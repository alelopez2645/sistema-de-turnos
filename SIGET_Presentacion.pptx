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4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Aprobado</c:v>
                </c:pt>
              </c:strCache>
            </c:strRef>
          </c:tx>
          <c:spPr>
            <a:solidFill>
              <a:srgbClr val="1B4F5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Auditorio</c:v>
                </c:pt>
                <c:pt idx="1">
                  <c:v>Sala de Informática</c:v>
                </c:pt>
                <c:pt idx="2">
                  <c:v>Sala de Capacitación</c:v>
                </c:pt>
                <c:pt idx="3">
                  <c:v>TV Smart</c:v>
                </c:pt>
                <c:pt idx="4">
                  <c:v>Proyector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</c:v>
                </c:pt>
                <c:pt idx="1">
                  <c:v>13</c:v>
                </c:pt>
                <c:pt idx="2">
                  <c:v>6</c:v>
                </c:pt>
                <c:pt idx="3">
                  <c:v>9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40-4B0E-9926-019451C02F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Pendiente</c:v>
                </c:pt>
              </c:strCache>
            </c:strRef>
          </c:tx>
          <c:spPr>
            <a:solidFill>
              <a:srgbClr val="C1652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Auditorio</c:v>
                </c:pt>
                <c:pt idx="1">
                  <c:v>Sala de Informática</c:v>
                </c:pt>
                <c:pt idx="2">
                  <c:v>Sala de Capacitación</c:v>
                </c:pt>
                <c:pt idx="3">
                  <c:v>TV Smart</c:v>
                </c:pt>
                <c:pt idx="4">
                  <c:v>Proyector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</c:v>
                </c:pt>
                <c:pt idx="1">
                  <c:v>4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40-4B0E-9926-019451C02FA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Cancelado</c:v>
                </c:pt>
              </c:strCache>
            </c:strRef>
          </c:tx>
          <c:spPr>
            <a:solidFill>
              <a:srgbClr val="A9B4B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Auditorio</c:v>
                </c:pt>
                <c:pt idx="1">
                  <c:v>Sala de Informática</c:v>
                </c:pt>
                <c:pt idx="2">
                  <c:v>Sala de Capacitación</c:v>
                </c:pt>
                <c:pt idx="3">
                  <c:v>TV Smart</c:v>
                </c:pt>
                <c:pt idx="4">
                  <c:v>Proyector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3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040-4B0E-9926-019451C02FA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36B"/>
                </a:solidFill>
                <a:latin typeface="Calibri"/>
              </a:defRPr>
            </a:pPr>
            <a:endParaRPr lang="es-A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36B"/>
                </a:solidFill>
                <a:latin typeface="Arial"/>
              </a:defRPr>
            </a:pPr>
            <a:endParaRPr lang="es-A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s-A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540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desarrollo de SIGET: sistema web para reservar y controlar el uso de espacios y equipos del instituto.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necesidades: evitar superposiciones, formalizar reservas de alto impacto, dejar evidencia del estado de los recursos e informar a los docentes.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Cifras tomadas del código y del volcado turnos_ies.sql.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Cliente, servidor y datos. Los 11 componentes Livewire concentran la lógica de cada pantalla. Storage public guarda notas formales y fotos; MySQL guarda datos, sesiones y notificaciones; el SMTP de Gmail envía los correos.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Tailwind y Vite están instalados por el esqueleto de Laravel pero la interfaz usa Bootstrap por CDN. Dev: PHPUnit, Pint, Pail, Faker.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menú lateral cambia por rol, pero la seguridad real está en middleware, Policy y verificación en los componentes.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 mínimo significa que solo debe ser posterior al momento actual. TV Smart y Proyector admiten reservas simultáneas por sus unidades.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Cancelar no borra: conserva el historial y libera el horario porque el conteo de disponibilidad solo considera pendientes y aprobados.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administrador puede ejecutar también estos casos de uso, con la misma interfaz y la misma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cinco rutas /admin devuelven 403 a los docentes.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soltar el arrastre Alpine llama a abrirNuevaReserva. intentarGuardar valida; confirmarReserva revalida, guarda la nota en storage/public/notas-formales y crea el turno.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mismo conteo por solapamiento sirve para el Auditorio (1 unidad), la TV Smart (5) y el Proyector (3).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logo se incrusta como adjunto porque Gmail no puede descargar imágenes desde 127.0.0.1.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diagrama completo con todas las columnas está en el reporte. Como turnos.docente_id tiene ON DELETE CASCADE, los usuarios se dan de baja lógicamente (activo = 0) y no se borran.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Auditorio concentra más solicitudes (25). No hay turnos rechazados en el volcado. El dashboard del administrador calcula estas métricas en MySQL.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detalle de cada observación, con impacto y mejora, está en la sección 8.2 del reporte.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822960"/>
            <a:ext cx="3291840" cy="3291840"/>
          </a:xfrm>
          <a:prstGeom prst="ellipse">
            <a:avLst/>
          </a:prstGeom>
          <a:solidFill>
            <a:srgbClr val="1B4F5C"/>
          </a:solidFill>
          <a:ln w="12700">
            <a:solidFill>
              <a:srgbClr val="1B4F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1463040"/>
            <a:ext cx="2011680" cy="2011680"/>
          </a:xfrm>
          <a:prstGeom prst="ellipse">
            <a:avLst/>
          </a:prstGeom>
          <a:solidFill>
            <a:srgbClr val="C1652F"/>
          </a:solidFill>
          <a:ln w="12700">
            <a:solidFill>
              <a:srgbClr val="C1652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20574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960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8A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IES NUEVO HORIZONTE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SIGET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377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Espacios y Turnos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desarrollo · Septiembre de 2026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251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Alejandro López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problema resuelve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calendario único con reglas, en lugar de coordinar reservas de manera informal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28800"/>
            <a:ext cx="640080" cy="640080"/>
          </a:xfrm>
          <a:prstGeom prst="ellipse">
            <a:avLst/>
          </a:prstGeom>
          <a:solidFill>
            <a:srgbClr val="1B4F5C"/>
          </a:solidFill>
          <a:ln w="12700">
            <a:solidFill>
              <a:srgbClr val="1B4F5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9888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606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sin superposición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24612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semanal por espacio. Un horario no se puede reservar más veces que las unidades disponibles.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542032" y="160020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70632" y="1828800"/>
            <a:ext cx="640080" cy="640080"/>
          </a:xfrm>
          <a:prstGeom prst="ellipse">
            <a:avLst/>
          </a:prstGeom>
          <a:solidFill>
            <a:srgbClr val="C1652F"/>
          </a:solidFill>
          <a:ln w="12700">
            <a:solidFill>
              <a:srgbClr val="C1652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0652" y="19888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24912" y="2606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y nota formal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724912" y="324612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Auditorio y Sala de Capacitación exigen nota formal, 48 h de anticipación y aprobación de administración.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626864" y="160020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855464" y="1828800"/>
            <a:ext cx="640080" cy="640080"/>
          </a:xfrm>
          <a:prstGeom prst="ellipse">
            <a:avLst/>
          </a:prstGeom>
          <a:solidFill>
            <a:srgbClr val="1B4F5C"/>
          </a:solidFill>
          <a:ln w="12700">
            <a:solidFill>
              <a:srgbClr val="1B4F5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5484" y="19888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809744" y="2606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 uso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4809744" y="324612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y entrega del recurso con observaciones y fotografías.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711696" y="160020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940296" y="1828800"/>
            <a:ext cx="640080" cy="640080"/>
          </a:xfrm>
          <a:prstGeom prst="ellipse">
            <a:avLst/>
          </a:prstGeom>
          <a:solidFill>
            <a:srgbClr val="C1652F"/>
          </a:solidFill>
          <a:ln w="12700">
            <a:solidFill>
              <a:srgbClr val="C1652F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0316" y="198882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894576" y="2606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y estadísticas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894576" y="324612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y campana ante cada cambio; dashboard con métricas de uso para la administración.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proyecto en números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B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documentados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128016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4173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Livewire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4173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B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en MySQL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2004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069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espacios y equipos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46120" y="30632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74720" y="32004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B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4069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y 17 migraciones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35040" y="30632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566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de Laravel con interfaz en Livewire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lógica, la validación y la autorización viven en el servidor, escritas una sola vez en PHP.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Alpine.js solo para lo visual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Arrastre del calendario y menús desplegables, sin viajes al servidor.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canales de aviso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por SMTP de Gmail y campana interna en la base de datos.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97680" y="411480"/>
            <a:ext cx="4480560" cy="1097280"/>
          </a:xfrm>
          <a:prstGeom prst="roundRect">
            <a:avLst>
              <a:gd name="adj" fmla="val 6667"/>
            </a:avLst>
          </a:prstGeom>
          <a:solidFill>
            <a:srgbClr val="F3F5F6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407408" y="448056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· navegador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407408" y="713232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1B4F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07408" y="713232"/>
            <a:ext cx="10058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 + Bootstrap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0" y="713232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1B4F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0" y="713232"/>
            <a:ext cx="10058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Livewire JS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65392" y="713232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1B4F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65392" y="713232"/>
            <a:ext cx="10058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Alpine.js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44384" y="713232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1B4F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44384" y="713232"/>
            <a:ext cx="10058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37960" y="1536192"/>
            <a:ext cx="0" cy="246888"/>
          </a:xfrm>
          <a:prstGeom prst="line">
            <a:avLst/>
          </a:prstGeom>
          <a:noFill/>
          <a:ln w="19050">
            <a:solidFill>
              <a:srgbClr val="55636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V="1">
            <a:off x="6537960" y="1536192"/>
            <a:ext cx="0" cy="246888"/>
          </a:xfrm>
          <a:prstGeom prst="line">
            <a:avLst/>
          </a:prstGeom>
          <a:noFill/>
          <a:ln w="19050">
            <a:solidFill>
              <a:srgbClr val="55636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97680" y="1810512"/>
            <a:ext cx="4480560" cy="1920240"/>
          </a:xfrm>
          <a:prstGeom prst="roundRect">
            <a:avLst>
              <a:gd name="adj" fmla="val 3810"/>
            </a:avLst>
          </a:prstGeom>
          <a:solidFill>
            <a:srgbClr val="F3F5F6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07408" y="184708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· Laravel 13 · PHP 8.3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07408" y="210312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B4F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07408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+ middleware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2103120"/>
            <a:ext cx="2066544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B4F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0" y="2103120"/>
            <a:ext cx="206654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LoginController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07408" y="2560320"/>
            <a:ext cx="4261104" cy="457200"/>
          </a:xfrm>
          <a:prstGeom prst="roundRect">
            <a:avLst>
              <a:gd name="adj" fmla="val 16000"/>
            </a:avLst>
          </a:prstGeom>
          <a:solidFill>
            <a:srgbClr val="FBEFE7"/>
          </a:solidFill>
          <a:ln w="15875">
            <a:solidFill>
              <a:srgbClr val="C1652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07408" y="2560320"/>
            <a:ext cx="426110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componentes Livewire 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07408" y="3127248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1B4F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07408" y="3127248"/>
            <a:ext cx="13258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TurnoPolicy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06440" y="3127248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1B4F5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806440" y="3127248"/>
            <a:ext cx="14173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+ Enums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96912" y="3127248"/>
            <a:ext cx="1353312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1B4F5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96912" y="3127248"/>
            <a:ext cx="135331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63840" y="3657600"/>
            <a:ext cx="0" cy="292608"/>
          </a:xfrm>
          <a:prstGeom prst="line">
            <a:avLst/>
          </a:prstGeom>
          <a:noFill/>
          <a:ln w="19050">
            <a:solidFill>
              <a:srgbClr val="55636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492240" y="3657600"/>
            <a:ext cx="0" cy="292608"/>
          </a:xfrm>
          <a:prstGeom prst="line">
            <a:avLst/>
          </a:prstGeom>
          <a:noFill/>
          <a:ln w="19050">
            <a:solidFill>
              <a:srgbClr val="55636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297680" y="393192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F3F5F6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07408" y="3968496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SERVICIOS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07408" y="4224528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1B4F5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407408" y="4224528"/>
            <a:ext cx="13258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public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806440" y="4224528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1B4F5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806440" y="4224528"/>
            <a:ext cx="14173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8.4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296912" y="4224528"/>
            <a:ext cx="1353312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1B4F5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296912" y="4224528"/>
            <a:ext cx="135331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Gmail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Tecnologías y por qué se eligieron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307592"/>
            <a:ext cx="457200" cy="457200"/>
          </a:xfrm>
          <a:prstGeom prst="ellipse">
            <a:avLst/>
          </a:prstGeom>
          <a:solidFill>
            <a:srgbClr val="1B4F5C"/>
          </a:solidFill>
          <a:ln w="12700">
            <a:solidFill>
              <a:srgbClr val="1B4F5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1421892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70432" y="130759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13.30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19202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MVC con seguridad incorporada: CSRF, hashing, Policies.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542032" y="114300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06624" y="1307592"/>
            <a:ext cx="457200" cy="457200"/>
          </a:xfrm>
          <a:prstGeom prst="ellipse">
            <a:avLst/>
          </a:prstGeom>
          <a:solidFill>
            <a:srgbClr val="C1652F"/>
          </a:solidFill>
          <a:ln w="12700">
            <a:solidFill>
              <a:srgbClr val="C1652F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0924" y="142189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55264" y="130759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Livewire 4.4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2706624" y="19202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interactivas en PHP, sin API REST ni SPA.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626864" y="114300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791456" y="1307592"/>
            <a:ext cx="457200" cy="457200"/>
          </a:xfrm>
          <a:prstGeom prst="ellipse">
            <a:avLst/>
          </a:prstGeom>
          <a:solidFill>
            <a:srgbClr val="1B4F5C"/>
          </a:solidFill>
          <a:ln w="12700">
            <a:solidFill>
              <a:srgbClr val="1B4F5C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5756" y="1421892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40096" y="130759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8.4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791456" y="19202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 con claves foráneas y tipo JSON para las fotos.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711696" y="114300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876288" y="1307592"/>
            <a:ext cx="457200" cy="457200"/>
          </a:xfrm>
          <a:prstGeom prst="ellipse">
            <a:avLst/>
          </a:prstGeom>
          <a:solidFill>
            <a:srgbClr val="C1652F"/>
          </a:solidFill>
          <a:ln w="12700">
            <a:solidFill>
              <a:srgbClr val="C1652F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0588" y="1421892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24928" y="130759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5.3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876288" y="19202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Grilla, formularios y tablas listas, con la paleta del IES.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57200" y="301752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21792" y="3182112"/>
            <a:ext cx="457200" cy="457200"/>
          </a:xfrm>
          <a:prstGeom prst="ellipse">
            <a:avLst/>
          </a:prstGeom>
          <a:solidFill>
            <a:srgbClr val="1B4F5C"/>
          </a:solidFill>
          <a:ln w="12700">
            <a:solidFill>
              <a:srgbClr val="1B4F5C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092" y="3296412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170432" y="318211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Alpine.js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621792" y="37947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Arrastre táctil y menús sin ir al servidor.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2542032" y="301752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2706624" y="3182112"/>
            <a:ext cx="457200" cy="457200"/>
          </a:xfrm>
          <a:prstGeom prst="ellipse">
            <a:avLst/>
          </a:prstGeom>
          <a:solidFill>
            <a:srgbClr val="C1652F"/>
          </a:solidFill>
          <a:ln w="12700">
            <a:solidFill>
              <a:srgbClr val="C1652F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20924" y="3296412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255264" y="318211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4.4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2706624" y="37947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interactivos del dashboard.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4626864" y="301752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791456" y="3182112"/>
            <a:ext cx="457200" cy="457200"/>
          </a:xfrm>
          <a:prstGeom prst="ellipse">
            <a:avLst/>
          </a:prstGeom>
          <a:solidFill>
            <a:srgbClr val="1B4F5C"/>
          </a:solidFill>
          <a:ln w="12700">
            <a:solidFill>
              <a:srgbClr val="1B4F5C"/>
            </a:solidFill>
            <a:prstDash val="solid"/>
          </a:ln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5756" y="3296412"/>
            <a:ext cx="228600" cy="22860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5340096" y="318211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maatwebsite/excel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4791456" y="37947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 docentes desde xlsx, xls o csv.</a:t>
            </a:r>
            <a:endParaRPr lang="en-US" sz="1150" dirty="0"/>
          </a:p>
        </p:txBody>
      </p:sp>
      <p:sp>
        <p:nvSpPr>
          <p:cNvPr id="38" name="Shape 29"/>
          <p:cNvSpPr/>
          <p:nvPr/>
        </p:nvSpPr>
        <p:spPr>
          <a:xfrm>
            <a:off x="6711696" y="301752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6876288" y="3182112"/>
            <a:ext cx="457200" cy="457200"/>
          </a:xfrm>
          <a:prstGeom prst="ellipse">
            <a:avLst/>
          </a:prstGeom>
          <a:solidFill>
            <a:srgbClr val="C1652F"/>
          </a:solidFill>
          <a:ln w="12700">
            <a:solidFill>
              <a:srgbClr val="C1652F"/>
            </a:solidFill>
            <a:prstDash val="solid"/>
          </a:ln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90588" y="3296412"/>
            <a:ext cx="228600" cy="22860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7424928" y="318211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Gmail</a:t>
            </a:r>
            <a:endParaRPr lang="en-US" sz="1300" dirty="0"/>
          </a:p>
        </p:txBody>
      </p:sp>
      <p:sp>
        <p:nvSpPr>
          <p:cNvPr id="42" name="Text 32"/>
          <p:cNvSpPr txBox="1"/>
          <p:nvPr/>
        </p:nvSpPr>
        <p:spPr>
          <a:xfrm>
            <a:off x="6876288" y="37947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Correos sin servidor propio de mail.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Usuarios y permisos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roles: docente y administrador. Las cuentas las crea la administración.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548640" cy="548640"/>
          </a:xfrm>
          <a:prstGeom prst="ellipse">
            <a:avLst/>
          </a:prstGeom>
          <a:solidFill>
            <a:srgbClr val="1B4F5C"/>
          </a:solidFill>
          <a:ln w="12700">
            <a:solidFill>
              <a:srgbClr val="1B4F5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600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Docente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28600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espacios y ve el calendario de todos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 su turno hasta 24 h antes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 sus turnos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recepción y entrega con fotos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63440" y="141732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1600200"/>
            <a:ext cx="548640" cy="548640"/>
          </a:xfrm>
          <a:prstGeom prst="ellipse">
            <a:avLst/>
          </a:prstGeom>
          <a:solidFill>
            <a:srgbClr val="C1652F"/>
          </a:solidFill>
          <a:ln w="12700">
            <a:solidFill>
              <a:srgbClr val="C1652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7373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77840" y="1600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Administrador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228600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del docente, sin plazo de 24 h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Aprueba o rechaza solicitudes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usuarios, espacios, franjas y carreras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estadístico e importación de docentes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 en tres capas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" y="4297680"/>
            <a:ext cx="2697480" cy="548640"/>
          </a:xfrm>
          <a:prstGeom prst="roundRect">
            <a:avLst>
              <a:gd name="adj" fmla="val 13333"/>
            </a:avLst>
          </a:prstGeom>
          <a:solidFill>
            <a:srgbClr val="E3EEF1"/>
          </a:solidFill>
          <a:ln w="12700">
            <a:solidFill>
              <a:srgbClr val="E3EEF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48640" y="42976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auth · guest · es.administrador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273552" y="4297680"/>
            <a:ext cx="2697480" cy="548640"/>
          </a:xfrm>
          <a:prstGeom prst="roundRect">
            <a:avLst>
              <a:gd name="adj" fmla="val 13333"/>
            </a:avLst>
          </a:prstGeom>
          <a:solidFill>
            <a:srgbClr val="E3EEF1"/>
          </a:solidFill>
          <a:ln w="12700">
            <a:solidFill>
              <a:srgbClr val="E3EEF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364992" y="42976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TurnoPolicy: create, update, cancelar, aprobar, recepcionar, entregar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089904" y="4297680"/>
            <a:ext cx="2697480" cy="548640"/>
          </a:xfrm>
          <a:prstGeom prst="roundRect">
            <a:avLst>
              <a:gd name="adj" fmla="val 13333"/>
            </a:avLst>
          </a:prstGeom>
          <a:solidFill>
            <a:srgbClr val="E3EEF1"/>
          </a:solidFill>
          <a:ln w="12700">
            <a:solidFill>
              <a:srgbClr val="E3EEF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181344" y="42976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abort_unless en los componentes de administración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 de negocio por espacio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Definidas en el Enum TipoEspacio; capacidad, unidades y franjas son datos editables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63347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Espacio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Anticipación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 formal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2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16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16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2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 de Informática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mínimo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2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 de Capacitación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16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16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2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 Smart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mínimo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2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mínimo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Franjas de lunes a viernes: 08:00–21:00 (Auditorio, Capacitación); 08:00–12:40 y 13:20–21:00 (resto). Sin reservas en fin de semana. Modificación hasta 24 h antes. Cada reserva guarda la versión de las condiciones aceptadas (hoy 3.0).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de vida de un turno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1188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con aprobación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97280" y="1463040"/>
            <a:ext cx="0" cy="411480"/>
          </a:xfrm>
          <a:prstGeom prst="line">
            <a:avLst/>
          </a:prstGeom>
          <a:noFill/>
          <a:ln w="19050">
            <a:solidFill>
              <a:srgbClr val="55636B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2011680" y="1188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directa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88920" y="1463040"/>
            <a:ext cx="0" cy="411480"/>
          </a:xfrm>
          <a:prstGeom prst="line">
            <a:avLst/>
          </a:prstGeom>
          <a:noFill/>
          <a:ln w="19050">
            <a:solidFill>
              <a:srgbClr val="55636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11480" y="18745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BEFE7"/>
          </a:solidFill>
          <a:ln w="15875">
            <a:solidFill>
              <a:srgbClr val="C165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1874520"/>
            <a:ext cx="13716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03120" y="18745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E3EEF1"/>
          </a:solidFill>
          <a:ln w="15875">
            <a:solidFill>
              <a:srgbClr val="1B4F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03120" y="1874520"/>
            <a:ext cx="13716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94760" y="18745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1B4F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94760" y="1874520"/>
            <a:ext cx="13716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registrada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783080" y="2194560"/>
            <a:ext cx="320040" cy="0"/>
          </a:xfrm>
          <a:prstGeom prst="line">
            <a:avLst/>
          </a:prstGeom>
          <a:noFill/>
          <a:ln w="19050">
            <a:solidFill>
              <a:srgbClr val="55636B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1645920" y="160020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aprueba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0" y="2194560"/>
            <a:ext cx="320040" cy="0"/>
          </a:xfrm>
          <a:prstGeom prst="line">
            <a:avLst/>
          </a:prstGeom>
          <a:noFill/>
          <a:ln w="19050">
            <a:solidFill>
              <a:srgbClr val="55636B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338328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+ fotos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352044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3F5F6"/>
          </a:solidFill>
          <a:ln w="15875">
            <a:solidFill>
              <a:srgbClr val="5563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" y="3520440"/>
            <a:ext cx="13716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RECHAZADO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103120" y="352044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3F5F6"/>
          </a:solidFill>
          <a:ln w="15875">
            <a:solidFill>
              <a:srgbClr val="5563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03120" y="3520440"/>
            <a:ext cx="13716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CANCELADO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794760" y="352044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1B4F5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794760" y="3520440"/>
            <a:ext cx="13716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registrada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97280" y="2514600"/>
            <a:ext cx="0" cy="1005840"/>
          </a:xfrm>
          <a:prstGeom prst="line">
            <a:avLst/>
          </a:prstGeom>
          <a:noFill/>
          <a:ln w="19050">
            <a:solidFill>
              <a:srgbClr val="55636B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1143000" y="26974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88920" y="2514600"/>
            <a:ext cx="0" cy="1005840"/>
          </a:xfrm>
          <a:prstGeom prst="line">
            <a:avLst/>
          </a:prstGeom>
          <a:noFill/>
          <a:ln w="19050">
            <a:solidFill>
              <a:srgbClr val="55636B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2834640" y="26974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480560" y="2514600"/>
            <a:ext cx="0" cy="1005840"/>
          </a:xfrm>
          <a:prstGeom prst="line">
            <a:avLst/>
          </a:prstGeom>
          <a:noFill/>
          <a:ln w="19050">
            <a:solidFill>
              <a:srgbClr val="55636B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4526280" y="2697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check-out + fotos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11480" y="4434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turno pendiente también puede cancelarse; uno aprobado de Auditorio o Capacitación que se modifica vuelve a pendiente.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760720" y="1188720"/>
            <a:ext cx="3017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estados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pendiente, aprobado, rechazado y cancelado.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directa o con aprobación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Informática, TV y Proyector nacen aprobados; Auditorio y Capacitación, pendientes.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con evidencia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y entrega se guardan en columnas propias y no cambian el estado.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de uso: Docente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874520"/>
            <a:ext cx="1051560" cy="1051560"/>
          </a:xfrm>
          <a:prstGeom prst="ellipse">
            <a:avLst/>
          </a:prstGeom>
          <a:solidFill>
            <a:srgbClr val="1B4F5C"/>
          </a:solidFill>
          <a:ln w="12700">
            <a:solidFill>
              <a:srgbClr val="1B4F5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203704"/>
            <a:ext cx="393192" cy="3931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74320" y="299923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536192" y="2395728"/>
            <a:ext cx="219456" cy="0"/>
          </a:xfrm>
          <a:prstGeom prst="line">
            <a:avLst/>
          </a:prstGeom>
          <a:noFill/>
          <a:ln w="19050">
            <a:solidFill>
              <a:srgbClr val="55636B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1783080" y="1234440"/>
            <a:ext cx="1668780" cy="2788920"/>
          </a:xfrm>
          <a:prstGeom prst="roundRect">
            <a:avLst>
              <a:gd name="adj" fmla="val 4384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874520" y="1298448"/>
            <a:ext cx="1485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y avisos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856232" y="1737360"/>
            <a:ext cx="152247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911096" y="1737360"/>
            <a:ext cx="14127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CU-01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sesión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856232" y="2487168"/>
            <a:ext cx="152247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911096" y="2487168"/>
            <a:ext cx="14127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CU-02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sesión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856232" y="3236976"/>
            <a:ext cx="152247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911096" y="3236976"/>
            <a:ext cx="14127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CU-03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notificaciones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589020" y="1234440"/>
            <a:ext cx="1668780" cy="2788920"/>
          </a:xfrm>
          <a:prstGeom prst="roundRect">
            <a:avLst>
              <a:gd name="adj" fmla="val 4384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680460" y="1298448"/>
            <a:ext cx="1485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Reservar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662172" y="1737360"/>
            <a:ext cx="152247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717036" y="1737360"/>
            <a:ext cx="14127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CU-04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espacio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662172" y="2487168"/>
            <a:ext cx="152247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717036" y="2487168"/>
            <a:ext cx="14127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CU-05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disponibilidad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662172" y="3236976"/>
            <a:ext cx="1522476" cy="658368"/>
          </a:xfrm>
          <a:prstGeom prst="roundRect">
            <a:avLst>
              <a:gd name="adj" fmla="val 11111"/>
            </a:avLst>
          </a:prstGeom>
          <a:solidFill>
            <a:srgbClr val="FBEFE7"/>
          </a:solidFill>
          <a:ln w="19050">
            <a:solidFill>
              <a:srgbClr val="C1652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717036" y="3236976"/>
            <a:ext cx="14127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CU-06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turno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394960" y="1234440"/>
            <a:ext cx="1668780" cy="2788920"/>
          </a:xfrm>
          <a:prstGeom prst="roundRect">
            <a:avLst>
              <a:gd name="adj" fmla="val 4384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0" y="1298448"/>
            <a:ext cx="1485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68112" y="1737360"/>
            <a:ext cx="152247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522976" y="1737360"/>
            <a:ext cx="14127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CU-07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(hasta 24 h)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468112" y="2487168"/>
            <a:ext cx="152247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522976" y="2487168"/>
            <a:ext cx="14127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CU-08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 turno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468112" y="3236976"/>
            <a:ext cx="152247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522976" y="3236976"/>
            <a:ext cx="14127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CU-09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mis turnos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200900" y="1234440"/>
            <a:ext cx="1668780" cy="2788920"/>
          </a:xfrm>
          <a:prstGeom prst="roundRect">
            <a:avLst>
              <a:gd name="adj" fmla="val 4384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292340" y="1298448"/>
            <a:ext cx="1485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del recurso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274052" y="1737360"/>
            <a:ext cx="152247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328916" y="1737360"/>
            <a:ext cx="14127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CU-10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recepción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274052" y="2487168"/>
            <a:ext cx="152247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328916" y="2487168"/>
            <a:ext cx="14127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CU-11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entrega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1783080" y="4206240"/>
            <a:ext cx="7086600" cy="640080"/>
          </a:xfrm>
          <a:prstGeom prst="roundRect">
            <a:avLst>
              <a:gd name="adj" fmla="val 11429"/>
            </a:avLst>
          </a:prstGeom>
          <a:solidFill>
            <a:srgbClr val="E3EEF1"/>
          </a:solidFill>
          <a:ln w="12700">
            <a:solidFill>
              <a:srgbClr val="E3EEF1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920240" y="42062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Automáticos («include» de CU-06, 07 y 08):  CU-20 Validar reglas de reserva  ·  CU-21 Notificar por correo y campana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de uso: Administrador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874520"/>
            <a:ext cx="1051560" cy="1051560"/>
          </a:xfrm>
          <a:prstGeom prst="ellipse">
            <a:avLst/>
          </a:prstGeom>
          <a:solidFill>
            <a:srgbClr val="C1652F"/>
          </a:solidFill>
          <a:ln w="12700">
            <a:solidFill>
              <a:srgbClr val="C1652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203704"/>
            <a:ext cx="393192" cy="3931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74320" y="299923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536192" y="2395728"/>
            <a:ext cx="219456" cy="0"/>
          </a:xfrm>
          <a:prstGeom prst="line">
            <a:avLst/>
          </a:prstGeom>
          <a:noFill/>
          <a:ln w="19050">
            <a:solidFill>
              <a:srgbClr val="55636B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1783080" y="1234440"/>
            <a:ext cx="1668780" cy="2788920"/>
          </a:xfrm>
          <a:prstGeom prst="roundRect">
            <a:avLst>
              <a:gd name="adj" fmla="val 4384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874520" y="1298448"/>
            <a:ext cx="1485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856232" y="1737360"/>
            <a:ext cx="1522476" cy="658368"/>
          </a:xfrm>
          <a:prstGeom prst="roundRect">
            <a:avLst>
              <a:gd name="adj" fmla="val 11111"/>
            </a:avLst>
          </a:prstGeom>
          <a:solidFill>
            <a:srgbClr val="FBEFE7"/>
          </a:solidFill>
          <a:ln w="19050">
            <a:solidFill>
              <a:srgbClr val="C1652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911096" y="1737360"/>
            <a:ext cx="14127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CU-12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o rechazar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856232" y="2487168"/>
            <a:ext cx="152247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911096" y="2487168"/>
            <a:ext cx="14127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CU-13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o cancelar turnos ajenos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589020" y="1234440"/>
            <a:ext cx="1668780" cy="2788920"/>
          </a:xfrm>
          <a:prstGeom prst="roundRect">
            <a:avLst>
              <a:gd name="adj" fmla="val 4384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80460" y="1298448"/>
            <a:ext cx="1485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662172" y="1737360"/>
            <a:ext cx="152247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17036" y="1737360"/>
            <a:ext cx="14127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CU-14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Chart.js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394960" y="1234440"/>
            <a:ext cx="1668780" cy="2788920"/>
          </a:xfrm>
          <a:prstGeom prst="roundRect">
            <a:avLst>
              <a:gd name="adj" fmla="val 4384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0" y="1298448"/>
            <a:ext cx="1485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68112" y="1737360"/>
            <a:ext cx="152247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522976" y="1737360"/>
            <a:ext cx="14127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CU-15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usuarios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68112" y="2487168"/>
            <a:ext cx="152247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522976" y="2487168"/>
            <a:ext cx="14127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CU-16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 docentes (Excel)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200900" y="1234440"/>
            <a:ext cx="1668780" cy="2788920"/>
          </a:xfrm>
          <a:prstGeom prst="roundRect">
            <a:avLst>
              <a:gd name="adj" fmla="val 4384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292340" y="1298448"/>
            <a:ext cx="1485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7274052" y="1737360"/>
            <a:ext cx="152247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28916" y="1737360"/>
            <a:ext cx="14127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CU-17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Espacios y equipos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274052" y="2487168"/>
            <a:ext cx="152247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28916" y="2487168"/>
            <a:ext cx="14127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CU-18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Franjas horarias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274052" y="3236976"/>
            <a:ext cx="152247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328916" y="3236976"/>
            <a:ext cx="14127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CU-19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1783080" y="4206240"/>
            <a:ext cx="7086600" cy="640080"/>
          </a:xfrm>
          <a:prstGeom prst="roundRect">
            <a:avLst>
              <a:gd name="adj" fmla="val 11429"/>
            </a:avLst>
          </a:prstGeom>
          <a:solidFill>
            <a:srgbClr val="E3EEF1"/>
          </a:solidFill>
          <a:ln w="12700">
            <a:solidFill>
              <a:srgbClr val="E3EEF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920240" y="42062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accede a CU-01 a CU-11 y a los automáticos CU-20 y CU-21. Las rutas /admin exigen el middleware es.administrador.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central: solicitar un turno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CU-06 · FormularioTurno (Livewire) + Alpine.js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1280160" cy="2926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645920"/>
            <a:ext cx="502920" cy="502920"/>
          </a:xfrm>
          <a:prstGeom prst="ellipse">
            <a:avLst/>
          </a:prstGeom>
          <a:solidFill>
            <a:srgbClr val="1B4F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75488" y="2697480"/>
            <a:ext cx="1060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del espacio en el dashboard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E3EEF1"/>
          </a:solidFill>
          <a:ln w="12700">
            <a:solidFill>
              <a:srgbClr val="E3EE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840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 + Bootstrap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764792" y="1463040"/>
            <a:ext cx="1280160" cy="2926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57984" y="1645920"/>
            <a:ext cx="502920" cy="502920"/>
          </a:xfrm>
          <a:prstGeom prst="ellipse">
            <a:avLst/>
          </a:prstGeom>
          <a:solidFill>
            <a:srgbClr val="1B4F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57984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856232" y="2286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Arrastrar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2697480"/>
            <a:ext cx="1060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seleccionan celdas libres consecutivas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56232" y="384048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E3EEF1"/>
          </a:solidFill>
          <a:ln w="12700">
            <a:solidFill>
              <a:srgbClr val="E3EEF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856232" y="3840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Alpine.js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63824" y="1463040"/>
            <a:ext cx="1280160" cy="2926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57016" y="1645920"/>
            <a:ext cx="502920" cy="502920"/>
          </a:xfrm>
          <a:prstGeom prst="ellipse">
            <a:avLst/>
          </a:prstGeom>
          <a:solidFill>
            <a:srgbClr val="1B4F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57016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255264" y="2286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273552" y="2697480"/>
            <a:ext cx="1060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Carrera, curso, motivo, asistentes y nota formal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55264" y="384048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E3EEF1"/>
          </a:solidFill>
          <a:ln w="12700">
            <a:solidFill>
              <a:srgbClr val="E3EE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255264" y="3840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Livewire + Uploads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62856" y="1463040"/>
            <a:ext cx="1280160" cy="2926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56048" y="1645920"/>
            <a:ext cx="502920" cy="502920"/>
          </a:xfrm>
          <a:prstGeom prst="ellipse">
            <a:avLst/>
          </a:prstGeom>
          <a:solidFill>
            <a:srgbClr val="C165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956048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4654296" y="2286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672584" y="2697480"/>
            <a:ext cx="1060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Anticipación, franja, unidades libres, capacidad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54296" y="384048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E3EEF1"/>
          </a:solidFill>
          <a:ln w="12700">
            <a:solidFill>
              <a:srgbClr val="E3EEF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54296" y="3840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+ Enums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61888" y="1463040"/>
            <a:ext cx="1280160" cy="2926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55080" y="1645920"/>
            <a:ext cx="502920" cy="502920"/>
          </a:xfrm>
          <a:prstGeom prst="ellipse">
            <a:avLst/>
          </a:prstGeom>
          <a:solidFill>
            <a:srgbClr val="1B4F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550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6053328" y="2286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071616" y="2697480"/>
            <a:ext cx="1060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de uso versión 3.0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53328" y="384048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E3EEF1"/>
          </a:solidFill>
          <a:ln w="12700">
            <a:solidFill>
              <a:srgbClr val="E3EEF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053328" y="3840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config/reglas_uso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360920" y="1463040"/>
            <a:ext cx="1280160" cy="2926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54112" y="1645920"/>
            <a:ext cx="502920" cy="502920"/>
          </a:xfrm>
          <a:prstGeom prst="ellipse">
            <a:avLst/>
          </a:prstGeom>
          <a:solidFill>
            <a:srgbClr val="1B4F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754112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7452360" y="2286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7470648" y="2697480"/>
            <a:ext cx="1060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 + aviso por correo y campana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452360" y="384048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E3EEF1"/>
          </a:solidFill>
          <a:ln w="12700">
            <a:solidFill>
              <a:srgbClr val="E3EEF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452360" y="3840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Eloquent + Notifications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validación se repite en el servidor al confirmar, por si el horario fue tomado mientras se completaba el formulario.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garantiza que no haya superposiciones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463040"/>
            <a:ext cx="548640" cy="548640"/>
          </a:xfrm>
          <a:prstGeom prst="ellipse">
            <a:avLst/>
          </a:prstGeom>
          <a:solidFill>
            <a:srgbClr val="1B4F5C"/>
          </a:solidFill>
          <a:ln w="12700">
            <a:solidFill>
              <a:srgbClr val="1B4F5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002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298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válida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6276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pasada y no sábado ni domingo.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337560" y="118872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74720" y="1463040"/>
            <a:ext cx="548640" cy="548640"/>
          </a:xfrm>
          <a:prstGeom prst="ellipse">
            <a:avLst/>
          </a:prstGeom>
          <a:solidFill>
            <a:srgbClr val="C1652F"/>
          </a:solidFill>
          <a:ln w="12700">
            <a:solidFill>
              <a:srgbClr val="C1652F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6002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60520" y="1298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contiguo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160520" y="16276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Paquetes de 30 o 40 min dentro de una misma franja.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57200" y="242316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94360" y="2697480"/>
            <a:ext cx="548640" cy="548640"/>
          </a:xfrm>
          <a:prstGeom prst="ellipse">
            <a:avLst/>
          </a:prstGeom>
          <a:solidFill>
            <a:srgbClr val="1B4F5C"/>
          </a:solidFill>
          <a:ln w="12700">
            <a:solidFill>
              <a:srgbClr val="1B4F5C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8346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25328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Anticipación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1280160" y="28620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 en Auditorio y Capacitación.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3337560" y="242316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474720" y="2697480"/>
            <a:ext cx="548640" cy="548640"/>
          </a:xfrm>
          <a:prstGeom prst="ellipse">
            <a:avLst/>
          </a:prstGeom>
          <a:solidFill>
            <a:srgbClr val="C1652F"/>
          </a:solidFill>
          <a:ln w="12700">
            <a:solidFill>
              <a:srgbClr val="C1652F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1880" y="28346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160520" y="25328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libres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4160520" y="28620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Solapadas &lt; unidades disponibles (pendientes + aprobadas).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57200" y="365760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94360" y="3931920"/>
            <a:ext cx="548640" cy="548640"/>
          </a:xfrm>
          <a:prstGeom prst="ellipse">
            <a:avLst/>
          </a:prstGeom>
          <a:solidFill>
            <a:srgbClr val="1B4F5C"/>
          </a:solidFill>
          <a:ln w="12700">
            <a:solidFill>
              <a:srgbClr val="1B4F5C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06908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280160" y="3767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1280160" y="40965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Asistentes ≤ capacidad del espacio.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3337560" y="365760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3474720" y="3931920"/>
            <a:ext cx="548640" cy="548640"/>
          </a:xfrm>
          <a:prstGeom prst="ellipse">
            <a:avLst/>
          </a:prstGeom>
          <a:solidFill>
            <a:srgbClr val="C1652F"/>
          </a:solidFill>
          <a:ln w="12700">
            <a:solidFill>
              <a:srgbClr val="C1652F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1880" y="406908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160520" y="3767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formal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4160520" y="40965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de hasta 5 MB cuando corresponde.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6355080" y="1188720"/>
            <a:ext cx="2423160" cy="3611880"/>
          </a:xfrm>
          <a:prstGeom prst="roundRect">
            <a:avLst>
              <a:gd name="adj" fmla="val 3774"/>
            </a:avLst>
          </a:prstGeom>
          <a:solidFill>
            <a:srgbClr val="123640"/>
          </a:solidFill>
          <a:ln w="12700">
            <a:solidFill>
              <a:srgbClr val="123640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6537960" y="1371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solo lugar</a:t>
            </a:r>
            <a:endParaRPr lang="en-US" sz="1800" dirty="0"/>
          </a:p>
        </p:txBody>
      </p:sp>
      <p:sp>
        <p:nvSpPr>
          <p:cNvPr id="35" name="Text 27"/>
          <p:cNvSpPr txBox="1"/>
          <p:nvPr/>
        </p:nvSpPr>
        <p:spPr>
          <a:xfrm>
            <a:off x="6537960" y="18288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viven en los modelos Turno y Espacio y en el Enum TipoEspacio. Alta y edición las reutilizan, y la interfaz solo muestra el resultado.</a:t>
            </a:r>
            <a:endParaRPr lang="en-US" sz="1250" dirty="0"/>
          </a:p>
        </p:txBody>
      </p:sp>
      <p:sp>
        <p:nvSpPr>
          <p:cNvPr id="36" name="Text 28"/>
          <p:cNvSpPr txBox="1"/>
          <p:nvPr/>
        </p:nvSpPr>
        <p:spPr>
          <a:xfrm>
            <a:off x="6537960" y="35204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E8A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cuentan solo pendientes y aprobados: al cancelar, el horario se libera solo.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 de uso y notificaciones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17320"/>
            <a:ext cx="594360" cy="594360"/>
          </a:xfrm>
          <a:prstGeom prst="ellipse">
            <a:avLst/>
          </a:prstGeom>
          <a:solidFill>
            <a:srgbClr val="1B4F5C"/>
          </a:solidFill>
          <a:ln w="12700">
            <a:solidFill>
              <a:srgbClr val="1B4F5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156591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4173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Recepción y entrega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4028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5 fotos (5 MB c/u) y observaciones por registro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guardadas en columnas JSON de turnos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entrega solo se habilita si hubo recepción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Respalda la regla de devolver el recurso en las mismas condiciones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37760" y="1417320"/>
            <a:ext cx="594360" cy="594360"/>
          </a:xfrm>
          <a:prstGeom prst="ellipse">
            <a:avLst/>
          </a:prstGeom>
          <a:solidFill>
            <a:srgbClr val="C1652F"/>
          </a:solidFill>
          <a:ln w="12700">
            <a:solidFill>
              <a:srgbClr val="C1652F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350" y="156591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0" y="14173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Notificaciones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24028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Eventos: creado, modificado, aprobado, rechazado y cancelado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por SMTP con logo incrustado (Content-ID)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Campana con refresco cada 60 s (wire:poll)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campana funciona aunque falle el correo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 turnos_ies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1371600" cy="1581912"/>
          </a:xfrm>
          <a:prstGeom prst="rect">
            <a:avLst/>
          </a:prstGeom>
          <a:solidFill>
            <a:srgbClr val="FFFFFF"/>
          </a:solidFill>
          <a:ln w="15875">
            <a:solidFill>
              <a:srgbClr val="1B4F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68680"/>
            <a:ext cx="1371600" cy="274320"/>
          </a:xfrm>
          <a:prstGeom prst="rect">
            <a:avLst/>
          </a:prstGeom>
          <a:solidFill>
            <a:srgbClr val="1B4F5C"/>
          </a:solidFill>
          <a:ln w="15875">
            <a:solidFill>
              <a:srgbClr val="1B4F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74320" y="868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horarios_disponibilidad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1179576"/>
            <a:ext cx="12618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r>
              <a:rPr lang="en-US" sz="95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</a:t>
            </a:r>
            <a:r>
              <a:rPr lang="en-US" sz="9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espacio_id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dia_semana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hora_inicio · fin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148840" y="868680"/>
            <a:ext cx="1371600" cy="1335024"/>
          </a:xfrm>
          <a:prstGeom prst="rect">
            <a:avLst/>
          </a:prstGeom>
          <a:solidFill>
            <a:srgbClr val="FFFFFF"/>
          </a:solidFill>
          <a:ln w="15875">
            <a:solidFill>
              <a:srgbClr val="1B4F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868680"/>
            <a:ext cx="1371600" cy="274320"/>
          </a:xfrm>
          <a:prstGeom prst="rect">
            <a:avLst/>
          </a:prstGeom>
          <a:solidFill>
            <a:srgbClr val="1B4F5C"/>
          </a:solidFill>
          <a:ln w="15875">
            <a:solidFill>
              <a:srgbClr val="1B4F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48840" y="868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221992" y="1179576"/>
            <a:ext cx="12618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r>
              <a:rPr lang="en-US" sz="95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unidades_disponibles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794760" y="868680"/>
            <a:ext cx="1280160" cy="841248"/>
          </a:xfrm>
          <a:prstGeom prst="rect">
            <a:avLst/>
          </a:prstGeom>
          <a:solidFill>
            <a:srgbClr val="FFFFFF"/>
          </a:solidFill>
          <a:ln w="15875">
            <a:solidFill>
              <a:srgbClr val="1B4F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94760" y="868680"/>
            <a:ext cx="1280160" cy="274320"/>
          </a:xfrm>
          <a:prstGeom prst="rect">
            <a:avLst/>
          </a:prstGeom>
          <a:solidFill>
            <a:srgbClr val="1B4F5C"/>
          </a:solidFill>
          <a:ln w="15875">
            <a:solidFill>
              <a:srgbClr val="1B4F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94760" y="868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867912" y="1179576"/>
            <a:ext cx="1170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r>
              <a:rPr lang="en-US" sz="95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148840" y="2514600"/>
            <a:ext cx="1371600" cy="2322576"/>
          </a:xfrm>
          <a:prstGeom prst="rect">
            <a:avLst/>
          </a:prstGeom>
          <a:solidFill>
            <a:srgbClr val="FFFFFF"/>
          </a:solidFill>
          <a:ln w="15875">
            <a:solidFill>
              <a:srgbClr val="1B4F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48840" y="2514600"/>
            <a:ext cx="1371600" cy="274320"/>
          </a:xfrm>
          <a:prstGeom prst="rect">
            <a:avLst/>
          </a:prstGeom>
          <a:solidFill>
            <a:srgbClr val="1B4F5C"/>
          </a:solidFill>
          <a:ln w="15875">
            <a:solidFill>
              <a:srgbClr val="1B4F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14884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221992" y="2825496"/>
            <a:ext cx="126187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r>
              <a:rPr lang="en-US" sz="95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</a:t>
            </a:r>
            <a:r>
              <a:rPr lang="en-US" sz="9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espacio_id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</a:t>
            </a:r>
            <a:r>
              <a:rPr lang="en-US" sz="9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docente_id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</a:t>
            </a:r>
            <a:r>
              <a:rPr lang="en-US" sz="9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carrera_id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hora_inicio · fin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+ 15 columnas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94760" y="2011680"/>
            <a:ext cx="1280160" cy="1581912"/>
          </a:xfrm>
          <a:prstGeom prst="rect">
            <a:avLst/>
          </a:prstGeom>
          <a:solidFill>
            <a:srgbClr val="FFFFFF"/>
          </a:solidFill>
          <a:ln w="15875">
            <a:solidFill>
              <a:srgbClr val="1B4F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94760" y="2011680"/>
            <a:ext cx="1280160" cy="274320"/>
          </a:xfrm>
          <a:prstGeom prst="rect">
            <a:avLst/>
          </a:prstGeom>
          <a:solidFill>
            <a:srgbClr val="1B4F5C"/>
          </a:solidFill>
          <a:ln w="15875">
            <a:solidFill>
              <a:srgbClr val="1B4F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94760" y="2011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867912" y="2322576"/>
            <a:ext cx="11704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r>
              <a:rPr lang="en-US" sz="95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UQ </a:t>
            </a:r>
            <a:r>
              <a:rPr lang="en-US" sz="9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UQ </a:t>
            </a:r>
            <a:r>
              <a:rPr lang="en-US" sz="9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dni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</a:t>
            </a:r>
            <a:r>
              <a:rPr lang="en-US" sz="9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carrera_id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794760" y="3931920"/>
            <a:ext cx="1280160" cy="841248"/>
          </a:xfrm>
          <a:prstGeom prst="rect">
            <a:avLst/>
          </a:prstGeom>
          <a:solidFill>
            <a:srgbClr val="FFFFFF"/>
          </a:solidFill>
          <a:ln w="15875">
            <a:solidFill>
              <a:srgbClr val="5563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94760" y="3931920"/>
            <a:ext cx="1280160" cy="274320"/>
          </a:xfrm>
          <a:prstGeom prst="rect">
            <a:avLst/>
          </a:prstGeom>
          <a:solidFill>
            <a:srgbClr val="55636B"/>
          </a:solidFill>
          <a:ln w="15875">
            <a:solidFill>
              <a:srgbClr val="55636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94760" y="3931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867912" y="4242816"/>
            <a:ext cx="1170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r>
              <a:rPr lang="en-US" sz="95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(UUID)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read_at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645920" y="1280160"/>
            <a:ext cx="502920" cy="0"/>
          </a:xfrm>
          <a:prstGeom prst="line">
            <a:avLst/>
          </a:prstGeom>
          <a:noFill/>
          <a:ln w="19050">
            <a:solidFill>
              <a:srgbClr val="55636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645920" y="1298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834640" y="2203704"/>
            <a:ext cx="0" cy="310896"/>
          </a:xfrm>
          <a:prstGeom prst="line">
            <a:avLst/>
          </a:prstGeom>
          <a:noFill/>
          <a:ln w="19050">
            <a:solidFill>
              <a:srgbClr val="55636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880360" y="2240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434840" y="1709928"/>
            <a:ext cx="0" cy="301752"/>
          </a:xfrm>
          <a:prstGeom prst="line">
            <a:avLst/>
          </a:prstGeom>
          <a:noFill/>
          <a:ln w="19050">
            <a:solidFill>
              <a:srgbClr val="5563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480560" y="173736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NULL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520440" y="3200400"/>
            <a:ext cx="274320" cy="0"/>
          </a:xfrm>
          <a:prstGeom prst="line">
            <a:avLst/>
          </a:prstGeom>
          <a:noFill/>
          <a:ln w="19050">
            <a:solidFill>
              <a:srgbClr val="5563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34840" y="3593592"/>
            <a:ext cx="0" cy="338328"/>
          </a:xfrm>
          <a:prstGeom prst="line">
            <a:avLst/>
          </a:prstGeom>
          <a:noFill/>
          <a:ln w="19050">
            <a:solidFill>
              <a:srgbClr val="55636B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5394960" y="914400"/>
            <a:ext cx="3383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tablas: 5 de dominio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carreras, espacios, horarios_disponibilidad y turnos; más notifications y 8 del framework.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 primarias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bigint autoincremental; UUID en notifications.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y docente → turnos: CASCADE. carrera → turnos y users: SET NULL.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2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Únicos e índices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y dni únicos; índices por (espacio, fecha) y por estado.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274320" y="274320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carrera_id de turnos y users → carreras (SET NULL). notifications se vincula con users de forma polimórfica, sin FK.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registrado en el volcado de datos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turnos por espacio y estado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280160"/>
          <a:ext cx="56692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37160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92240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7498080" y="137160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09360" y="251460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92240" y="2514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3800" dirty="0"/>
          </a:p>
        </p:txBody>
      </p:sp>
      <p:sp>
        <p:nvSpPr>
          <p:cNvPr id="10" name="Text 7"/>
          <p:cNvSpPr txBox="1"/>
          <p:nvPr/>
        </p:nvSpPr>
        <p:spPr>
          <a:xfrm>
            <a:off x="7498080" y="251460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309360" y="365760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92240" y="3657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556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8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0" y="365760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cancelados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y mejoras propuestas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63440" y="118872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Implementado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8308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en formularios y peticiones Livewire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con bcrypt (12 rondas)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regenerada al entrar e invalidada al salir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 en tres capas y revalidación en servidor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Subidas validadas y con nombre aleatorio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lógica y protección del último administrador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89204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mejorar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78308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Rotar credenciales del ZIP y excluirlas del repositorio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TurnoNotification::enviar() o cola ante fallos del SMTP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Transacción con bloqueo al reservar (carrera entre confirmaciones)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DNI vacío como NULL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automáticas de reglas y Policy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APP_DEBUG=false y recursos sin CDN en producción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3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A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SIGET cubre el ciclo completo: disponibilidad, reserva con reglas, aprobación, uso con evidencia, avisos y estadísticas.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661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de contraseña · recordatorios previos · exportar estadísticas · pruebas automáticas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github.com/alelopez2645/Sistema-de-Turnos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097280"/>
            <a:ext cx="2377440" cy="2377440"/>
          </a:xfrm>
          <a:prstGeom prst="ellipse">
            <a:avLst/>
          </a:prstGeom>
          <a:solidFill>
            <a:srgbClr val="1B4F5C"/>
          </a:solidFill>
          <a:ln w="12700">
            <a:solidFill>
              <a:srgbClr val="1B4F5C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78308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1787</Words>
  <Application>Microsoft Office PowerPoint</Application>
  <PresentationFormat>Presentación en pantalla (16:9)</PresentationFormat>
  <Paragraphs>360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SIGET — Sistema de Gestión de Espacios y Turnos</dc:title>
  <dc:subject>PptxGenJS Presentation</dc:subject>
  <dc:creator>Alejandro López</dc:creator>
  <cp:lastModifiedBy>Educacion</cp:lastModifiedBy>
  <cp:revision>2</cp:revision>
  <dcterms:created xsi:type="dcterms:W3CDTF">2026-09-19T12:57:47Z</dcterms:created>
  <dcterms:modified xsi:type="dcterms:W3CDTF">2026-09-21T14:42:57Z</dcterms:modified>
</cp:coreProperties>
</file>